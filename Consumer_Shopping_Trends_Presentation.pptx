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Subscribed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Used a discount / promo code</c:v>
                </c:pt>
              </c:strCache>
            </c:strRef>
          </c:tx>
          <c:spPr>
            <a:solidFill>
              <a:srgbClr val="C9971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63.2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9525" cap="flat">
              <a:solidFill>
                <a:srgbClr val="E9EB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5B5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B5B5B"/>
                    </a:solidFill>
                    <a:latin typeface="Calibri"/>
                  </a:rPr>
                  <a:t>% of customers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5B5B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($000s)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&quot;$&quot;0.0&quot;K&quot;" sourceLinked="0"/>
            <c:txPr>
              <a:bodyPr/>
              <a:lstStyle/>
              <a:p>
                <a:pPr>
                  <a:defRPr b="0" i="0" strike="noStrike" sz="125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97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Middle-aged
(41-60)</c:v>
                  </c:pt>
                  <c:pt idx="1">
                    <c:v>Adult
(26-40)</c:v>
                  </c:pt>
                  <c:pt idx="2">
                    <c:v>Senior
(61+)</c:v>
                  </c:pt>
                  <c:pt idx="3">
                    <c:v>Young Adult
(18-25)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89.445</c:v>
                </c:pt>
                <c:pt idx="1">
                  <c:v>65.842</c:v>
                </c:pt>
                <c:pt idx="2">
                  <c:v>43.164</c:v>
                </c:pt>
                <c:pt idx="3">
                  <c:v>34.63</c:v>
                </c:pt>
              </c:numCache>
            </c:numRef>
          </c:val>
        </c:ser>
        <c:dLbls>
          <c:numFmt formatCode="&quot;$&quot;0.0&quot;K&quot;" sourceLinked="0"/>
          <c:txPr>
            <a:bodyPr/>
            <a:lstStyle/>
            <a:p>
              <a:pPr>
                <a:defRPr b="0" i="0" strike="noStrike" sz="125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9EB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5B5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B5B5B"/>
                    </a:solidFill>
                    <a:latin typeface="Calibri"/>
                  </a:rPr>
                  <a:t>Total revenue ($000s)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50" b="0" i="0" u="none" strike="noStrike">
                <a:solidFill>
                  <a:srgbClr val="1F3864"/>
                </a:solidFill>
                <a:latin typeface="Cambria"/>
              </a:defRPr>
            </a:pPr>
            <a:r>
              <a:rPr sz="1350" b="0" i="0" u="none" strike="noStrike">
                <a:solidFill>
                  <a:srgbClr val="1F3864"/>
                </a:solidFill>
                <a:latin typeface="Cambria"/>
              </a:rPr>
              <a:t>Customer base by loyalty tier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base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bubble3D val="0"/>
            <c:spPr>
              <a:solidFill>
                <a:srgbClr val="C9971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Loyal (11+ orders)</c:v>
                </c:pt>
                <c:pt idx="1">
                  <c:v>Returning (1-10 orders)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79.9</c:v>
                </c:pt>
                <c:pt idx="1">
                  <c:v>20.1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5B5B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50" b="0" i="0" u="none" strike="noStrike">
                <a:solidFill>
                  <a:srgbClr val="1F3864"/>
                </a:solidFill>
                <a:latin typeface="Cambria"/>
              </a:defRPr>
            </a:pPr>
            <a:r>
              <a:rPr sz="1350" b="0" i="0" u="none" strike="noStrike">
                <a:solidFill>
                  <a:srgbClr val="1F3864"/>
                </a:solidFill>
                <a:latin typeface="Cambria"/>
              </a:rPr>
              <a:t>2,518 of 3,476 repeat buyers have no subscription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buyers (&gt;5 orders)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subscribed</c:v>
                  </c:pt>
                  <c:pt idx="1">
                    <c:v>Subscribed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72.4</c:v>
                </c:pt>
                <c:pt idx="1">
                  <c:v>27.6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9525" cap="flat">
              <a:solidFill>
                <a:srgbClr val="E9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Clothing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Spring</c:v>
                  </c:pt>
                  <c:pt idx="1">
                    <c:v>Summer</c:v>
                  </c:pt>
                  <c:pt idx="2">
                    <c:v>Fall</c:v>
                  </c:pt>
                  <c:pt idx="3">
                    <c:v>Winter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27692</c:v>
                </c:pt>
                <c:pt idx="1">
                  <c:v>23078</c:v>
                </c:pt>
                <c:pt idx="2">
                  <c:v>26220</c:v>
                </c:pt>
                <c:pt idx="3">
                  <c:v>27274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Accessories</c:v>
                </c:pt>
              </c:strCache>
            </c:strRef>
          </c:tx>
          <c:spPr>
            <a:solidFill>
              <a:srgbClr val="C997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Spring</c:v>
                  </c:pt>
                  <c:pt idx="1">
                    <c:v>Summer</c:v>
                  </c:pt>
                  <c:pt idx="2">
                    <c:v>Fall</c:v>
                  </c:pt>
                  <c:pt idx="3">
                    <c:v>Winter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17007</c:v>
                </c:pt>
                <c:pt idx="1">
                  <c:v>19028</c:v>
                </c:pt>
                <c:pt idx="2">
                  <c:v>19874</c:v>
                </c:pt>
                <c:pt idx="3">
                  <c:v>18291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Footwear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Spring</c:v>
                  </c:pt>
                  <c:pt idx="1">
                    <c:v>Summer</c:v>
                  </c:pt>
                  <c:pt idx="2">
                    <c:v>Fall</c:v>
                  </c:pt>
                  <c:pt idx="3">
                    <c:v>Winter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9555</c:v>
                </c:pt>
                <c:pt idx="1">
                  <c:v>9393</c:v>
                </c:pt>
                <c:pt idx="2">
                  <c:v>8665</c:v>
                </c:pt>
                <c:pt idx="3">
                  <c:v>8480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Outerwear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Spring</c:v>
                  </c:pt>
                  <c:pt idx="1">
                    <c:v>Summer</c:v>
                  </c:pt>
                  <c:pt idx="2">
                    <c:v>Fall</c:v>
                  </c:pt>
                  <c:pt idx="3">
                    <c:v>Winter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4425</c:v>
                </c:pt>
                <c:pt idx="1">
                  <c:v>4278</c:v>
                </c:pt>
                <c:pt idx="2">
                  <c:v>5259</c:v>
                </c:pt>
                <c:pt idx="3">
                  <c:v>4562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9EB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5B5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B5B5B"/>
                    </a:solidFill>
                    <a:latin typeface="Calibri"/>
                  </a:rPr>
                  <a:t>Revenue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5B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3864"/>
                </a:solidFill>
                <a:latin typeface="Cambria"/>
              </a:defRPr>
            </a:pPr>
            <a:r>
              <a:rPr sz="1250" b="0" i="0" u="none" strike="noStrike">
                <a:solidFill>
                  <a:srgbClr val="1F3864"/>
                </a:solidFill>
                <a:latin typeface="Cambria"/>
              </a:rPr>
              <a:t>Rating barely moves either way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review rating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971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discount</c:v>
                  </c:pt>
                  <c:pt idx="1">
                    <c:v>Discount applied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3.76</c:v>
                </c:pt>
                <c:pt idx="1">
                  <c:v>3.74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9525" cap="flat">
              <a:solidFill>
                <a:srgbClr val="E9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3864"/>
                </a:solidFill>
                <a:latin typeface="Cambria"/>
              </a:defRPr>
            </a:pPr>
            <a:r>
              <a:rPr sz="1250" b="0" i="0" u="none" strike="noStrike">
                <a:solidFill>
                  <a:srgbClr val="1F3864"/>
                </a:solidFill>
                <a:latin typeface="Cambria"/>
              </a:rPr>
              <a:t>Top 5 rated products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Gloves</c:v>
                  </c:pt>
                  <c:pt idx="1">
                    <c:v>Sandals</c:v>
                  </c:pt>
                  <c:pt idx="2">
                    <c:v>Boots</c:v>
                  </c:pt>
                  <c:pt idx="3">
                    <c:v>Hat</c:v>
                  </c:pt>
                  <c:pt idx="4">
                    <c:v>Skirt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3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3864"/>
                </a:solidFill>
                <a:latin typeface="Cambria"/>
              </a:defRPr>
            </a:pPr>
            <a:r>
              <a:rPr sz="1250" b="0" i="0" u="none" strike="noStrike">
                <a:solidFill>
                  <a:srgbClr val="1F3864"/>
                </a:solidFill>
                <a:latin typeface="Cambria"/>
              </a:rPr>
              <a:t>Top 5 most-discounted products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%</c:v>
                </c:pt>
              </c:strCache>
            </c:strRef>
          </c:tx>
          <c:spPr>
            <a:solidFill>
              <a:srgbClr val="C9971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8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49.7</c:v>
                </c:pt>
                <c:pt idx="2">
                  <c:v>49.1</c:v>
                </c:pt>
                <c:pt idx="3">
                  <c:v>48.2</c:v>
                </c:pt>
                <c:pt idx="4">
                  <c:v>47.4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38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035040" cy="603504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931920"/>
            <a:ext cx="3840480" cy="3840480"/>
          </a:xfrm>
          <a:prstGeom prst="ellipse">
            <a:avLst/>
          </a:prstGeom>
          <a:solidFill>
            <a:srgbClr val="C9971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Shopping Trends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3,900 transactions reveal about engagement, loyalty, and where to focus marketing spend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806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Namit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•  3,900 customer transactions  •  Python + SQL analysis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087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the company leverage consumer shopping data to identify trends, improve customer engagement, and optimize marketing and product strategies?”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53872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84048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448056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Shifting Patterns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2898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has noticed changing purchase behavior across demographics, product categories, and sales channels.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3520440"/>
            <a:ext cx="353872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840480"/>
            <a:ext cx="457200" cy="45720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448056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Unclear Drivers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4937760"/>
            <a:ext cx="2898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clear which factors — discounts, reviews, seasonality, payment method — actually move customer decisions.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3520440"/>
            <a:ext cx="353872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38404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448056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Analysis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58200" y="4937760"/>
            <a:ext cx="2898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transactions, cleaned in Python and queried across 15 SQL business questions, to find out.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714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Trends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three-stage pipeline from raw transactions to decisions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38728" cy="4160520"/>
          </a:xfrm>
          <a:prstGeom prst="roundRect">
            <a:avLst>
              <a:gd name="adj" fmla="val 206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Prepare (Python)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898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missing review ratings imputed using each product's category median. Columns standardized to snake_case. Two features engineered: age_group and purchase_frequency_days. One redundant column dropped (promo_code_used matched discount_applied on every row).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38728" cy="4160520"/>
          </a:xfrm>
          <a:prstGeom prst="roundRect">
            <a:avLst>
              <a:gd name="adj" fmla="val 206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94560"/>
            <a:ext cx="457200" cy="45720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(SQL)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657600"/>
            <a:ext cx="2898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T-SQL business questions across four areas: revenue &amp; spending patterns, product &amp; category performance, customer segmentation &amp; loyalty, and behavioral cross-factor analysis.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538728" cy="4160520"/>
          </a:xfrm>
          <a:prstGeom prst="roundRect">
            <a:avLst>
              <a:gd name="adj" fmla="val 206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1945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58200" y="283464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to Action (This Deck)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657600"/>
            <a:ext cx="2898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outputs distilled into a handful of headline findings, each tied to a concrete, prioritized recommendation for marketing and product strategy.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91714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Trends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cleaned_customer_behavior.csv — the single source of truth for every query in this deck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21992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96596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2221992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926080" y="29260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columns (2 engineered)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96596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2221992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$233,081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12080" y="29260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captured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96596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2221992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98080" y="29260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2640" y="196596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84080" y="2221992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84080" y="29260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remaining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315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7091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 states  •  4 product categories (Clothing, Accessories, Footwear, Outerwear)  •  25 distinct products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attributes: age, gender, location, subscription status, payment method, shipping type, discount usage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fields: review rating, previous purchases, purchase frequency — the basis for the loyalty segmentation later in this deck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714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Trends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Subscription Program Has Zero Reach With Women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&amp; Q12 cross-referenced with gender — the pattern it exposed was too large to leave out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600200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7099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498080" y="22585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subscribers (of 1,248 female customers)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269480" y="2999232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4F6F9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31089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1,053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498080" y="36576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subscribers — 100% of all subscribers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69480" y="4398264"/>
            <a:ext cx="4343400" cy="1261872"/>
          </a:xfrm>
          <a:prstGeom prst="roundRect">
            <a:avLst>
              <a:gd name="adj" fmla="val 5797"/>
            </a:avLst>
          </a:prstGeom>
          <a:solidFill>
            <a:srgbClr val="F4F6F9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0" y="45079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$59.54 vs $60.25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498080" y="505663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value, Male vs Female — nearly identical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1714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Trends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Middle-Aged Shoppers Drive Over a Third of Revenue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total revenue by engineered age_group cohort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46720" y="228600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 of total revenue ($89,445) comes from the middle-aged (41-60) cohort — more than adult and senior combined.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(18-25) generate the least revenue at 14.9% — middle-aged spend is 2.6x higher.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tracks age-cohort size in this dataset, but the concentration is still a clear signal for where marketing reach matters most.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714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Trends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Customers Are Already Loyal — Most Aren't Subscribed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&amp; Q12 — loyalty segmentation and subscription status among repeat buyers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4937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806440" y="1737360"/>
          <a:ext cx="5806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87044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sp>
        <p:nvSpPr>
          <p:cNvPr id="7" name="Shape 3"/>
          <p:cNvSpPr/>
          <p:nvPr/>
        </p:nvSpPr>
        <p:spPr>
          <a:xfrm>
            <a:off x="749808" y="6044184"/>
            <a:ext cx="219456" cy="219456"/>
          </a:xfrm>
          <a:prstGeom prst="ellipse">
            <a:avLst/>
          </a:prstGeom>
          <a:solidFill>
            <a:srgbClr val="C9971C"/>
          </a:solidFill>
          <a:ln/>
        </p:spPr>
      </p:sp>
      <p:sp>
        <p:nvSpPr>
          <p:cNvPr id="8" name="Text 4"/>
          <p:cNvSpPr/>
          <p:nvPr/>
        </p:nvSpPr>
        <p:spPr>
          <a:xfrm>
            <a:off x="1097280" y="58704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customers show 0 previous purchases in this data — the file captures an established base, not first-time buyers.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1714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Trends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Leads Every Season — Demand Isn't Seasonal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revenue by category within each season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406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002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412480" y="228600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#1 revenue category in all four seasons — no other category ever takes the lead.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seasonal revenue ranges just $55.8K-$60.0K (under 8% spread) — demand is stable year-round, not seasonally spiky.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peaks in Fall ($5,259), just ahead of Winter — the one category with a clear seasonal pattern.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1714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Trends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Discounting Is a Volume Lever, Not a Satisfaction Risk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Q6, Q7 &amp; Q14 — review rating by discount usage, and product-level extremes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35661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343400" y="1691640"/>
          <a:ext cx="35661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138160" y="1691640"/>
          <a:ext cx="35661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sp>
        <p:nvSpPr>
          <p:cNvPr id="8" name="Shape 3"/>
          <p:cNvSpPr/>
          <p:nvPr/>
        </p:nvSpPr>
        <p:spPr>
          <a:xfrm>
            <a:off x="749808" y="6163056"/>
            <a:ext cx="219456" cy="219456"/>
          </a:xfrm>
          <a:prstGeom prst="ellipse">
            <a:avLst/>
          </a:prstGeom>
          <a:solidFill>
            <a:srgbClr val="C9971C"/>
          </a:solidFill>
          <a:ln/>
        </p:spPr>
      </p:sp>
      <p:sp>
        <p:nvSpPr>
          <p:cNvPr id="9" name="Text 4"/>
          <p:cNvSpPr/>
          <p:nvPr/>
        </p:nvSpPr>
        <p:spPr>
          <a:xfrm>
            <a:off x="1097280" y="59893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sits in both lists — well-rated but discounted on 1 in 2 sales. Worth a margin check alongside Sneakers and Coat.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91714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Trends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Shipping, Payment, and Frequency: Minor Factors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Q3, Q13 &amp; Q15 — tested, but none move average order value meaningfully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200400"/>
        </p:xfrm>
        <a:graphic>
          <a:graphicData uri="http://schemas.openxmlformats.org/drawingml/2006/table">
            <a:tbl>
              <a:tblPr/>
              <a:tblGrid>
                <a:gridCol w="1920240"/>
                <a:gridCol w="5486400"/>
                <a:gridCol w="1188720"/>
                <a:gridCol w="246888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$60.48 vs Standard $58.46 avg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 premium, not decisive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 Card $60.92 (highest) vs Venmo $58.95 (lowest)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method stands 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frequency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 flat $58.97-$60.69 across all cadences (weekly to annual)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doesn't predict basket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purchases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previous purchases flat (~25) regardless of frequency cohort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compounding loyalty-by-frequency effect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5431536"/>
            <a:ext cx="219456" cy="21945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52578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tested factors meaningfully move spend — deprioritize as primary marketing levers versus age, gender-program access, and loyalty status.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714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Trends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by revenue opportunity and evidence strength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80136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subscription &amp; promo program to women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80136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female customers currently subscribe or receive discounts, despite spending on par with men ($60.25 vs $59.54 avg). This is the single largest untapped growth lever in the data.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457200" cy="45720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26974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 marketing on the 41-60 age cohort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26974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group already drives 38% of revenue — more than adult and senior combined. Prioritize retention and cross-sell here before broader acquisition spend.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48640" y="362102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59359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Upgrade loyal repeat buyers into subscribers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359359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2,518 customers with 5+ prior orders aren't subscribed. A targeted loyalty-to-subscription campaign converts proven buyers into recurring revenue.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448970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Clothing as the year-round anchor category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4489704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leads every season by a wide margin — no need for season-specific merchandising shifts; invest in depth, not rotation.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48640" y="5413248"/>
            <a:ext cx="457200" cy="45720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538581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discounts freely, but audit margins on Hat, Sneakers &amp; Coat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538581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ratings are unaffected by discounting (3.76 vs 3.74) — safe as an acquisition tool. But ~50% discount incidence on these three items warrants a margin check.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91714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Trends Analysis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customers show 0 previous purchases — this dataset reflects an established base, not first-time buyers. First-purchase conversion can't be analyzed until that cohort is tracked.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and discount fields are populated only for male records in the source data — worth validating with the data source before finalizing the female-targeting business case.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reflect a single historical snapshot (3,900 orders). Re-run this analysis on a recurring basis as new transactions accumulate.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3317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Power BI dashboard (in progress) so these views refresh automatically each cycle.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subscription/promo invitation to a sample of female customers and measure lift.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true first-purchase tracking to close the acquisition-funnel gap.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714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Trends Analysis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474720"/>
            <a:ext cx="5669280" cy="566928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C9971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queries, the Python cleaning notebook, and dashboard files are available in the project repository.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namitt.singh@gmail.com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Shopping Trends: Analysis &amp; Recommendations</dc:title>
  <dc:subject>PptxGenJS Presentation</dc:subject>
  <dc:creator>Namit</dc:creator>
  <cp:lastModifiedBy>Namit</cp:lastModifiedBy>
  <cp:revision>1</cp:revision>
  <dcterms:created xsi:type="dcterms:W3CDTF">2026-07-01T15:11:20Z</dcterms:created>
  <dcterms:modified xsi:type="dcterms:W3CDTF">2026-07-01T15:11:20Z</dcterms:modified>
</cp:coreProperties>
</file>